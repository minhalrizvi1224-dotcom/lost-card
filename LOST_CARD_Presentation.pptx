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" name="Connector 2"/>
          <p:cNvCxnSpPr/>
          <p:nvPr/>
        </p:nvCxnSpPr>
        <p:spPr>
          <a:xfrm flipV="1">
            <a:off x="466344" y="548640"/>
            <a:ext cx="722376" cy="466344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8720" y="548640"/>
            <a:ext cx="1211580" cy="29718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00300" y="845820"/>
            <a:ext cx="608076" cy="699516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68096" y="1545336"/>
            <a:ext cx="2240280" cy="777240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68096" y="1920240"/>
            <a:ext cx="969264" cy="402336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37360" y="1920240"/>
            <a:ext cx="1106424" cy="923544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66928" y="2843784"/>
            <a:ext cx="2276856" cy="923544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66928" y="3291840"/>
            <a:ext cx="896112" cy="475488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" y="3291840"/>
            <a:ext cx="1216151" cy="941832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6344" y="1014984"/>
            <a:ext cx="1271016" cy="905256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00300" y="845820"/>
            <a:ext cx="443484" cy="1997964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6" y="2322576"/>
            <a:ext cx="694944" cy="969264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" y="548640"/>
            <a:ext cx="1819656" cy="996696"/>
          </a:xfrm>
          <a:prstGeom prst="line">
            <a:avLst/>
          </a:prstGeom>
          <a:ln w="9525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65760" y="914400"/>
            <a:ext cx="201168" cy="201168"/>
          </a:xfrm>
          <a:prstGeom prst="ellipse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97280" y="457200"/>
            <a:ext cx="182880" cy="182880"/>
          </a:xfrm>
          <a:prstGeom prst="ellipse">
            <a:avLst/>
          </a:prstGeom>
          <a:solidFill>
            <a:srgbClr val="56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2286000" y="731520"/>
            <a:ext cx="228600" cy="228600"/>
          </a:xfrm>
          <a:prstGeom prst="ellipse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926080" y="1463040"/>
            <a:ext cx="164592" cy="164592"/>
          </a:xfrm>
          <a:prstGeom prst="ellipse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40080" y="2194560"/>
            <a:ext cx="256032" cy="25603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645920" y="1828800"/>
            <a:ext cx="182880" cy="182880"/>
          </a:xfrm>
          <a:prstGeom prst="ellipse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2743200" y="2743200"/>
            <a:ext cx="201168" cy="201168"/>
          </a:xfrm>
          <a:prstGeom prst="ellipse">
            <a:avLst/>
          </a:prstGeom>
          <a:solidFill>
            <a:srgbClr val="56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457200" y="3657600"/>
            <a:ext cx="219456" cy="219456"/>
          </a:xfrm>
          <a:prstGeom prst="ellipse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371600" y="3200400"/>
            <a:ext cx="182880" cy="182880"/>
          </a:xfrm>
          <a:prstGeom prst="ellipse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2560320" y="4114800"/>
            <a:ext cx="237744" cy="237744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57600" y="164592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58A6FF"/>
                </a:solidFill>
                <a:latin typeface="Calibri"/>
              </a:rPr>
              <a:t>LOST 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749039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6EDF3"/>
                </a:solidFill>
                <a:latin typeface="Calibri"/>
              </a:rPr>
              <a:t>A Computational Model of Relational Belief Decay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2976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0883E"/>
                </a:solidFill>
                <a:latin typeface="Calibri"/>
              </a:rPr>
              <a:t>“Every word we speak in a relationship is a card we play.”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4937760"/>
            <a:ext cx="80467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57600" y="512064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alibri"/>
              </a:rPr>
              <a:t>S. M. Minhal Abbas Rizvi  |  Supervisor: Waqas Aziz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4864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alibri"/>
              </a:rPr>
              <a:t>Data Structures &amp; Algorithms  ·  BSSE  ·  June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34439" y="25603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PFC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50592" y="53035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Hippocampus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063240" y="126187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Dopamine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2959" y="23957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Amygdala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810512" y="162763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Mirror Neurons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907792" y="254203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DMN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0080" y="385876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Cortisol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536192" y="340156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2E3A46"/>
                </a:solidFill>
                <a:latin typeface="Calibri"/>
              </a:rPr>
              <a:t>NLI</a:t>
            </a:r>
          </a:p>
        </p:txBody>
      </p:sp>
      <p:sp>
        <p:nvSpPr>
          <p:cNvPr id="156" name="Oval 155"/>
          <p:cNvSpPr/>
          <p:nvPr/>
        </p:nvSpPr>
        <p:spPr>
          <a:xfrm>
            <a:off x="845820" y="1303020"/>
            <a:ext cx="137160" cy="137160"/>
          </a:xfrm>
          <a:prstGeom prst="ellipse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929384" y="2478024"/>
            <a:ext cx="164592" cy="164592"/>
          </a:xfrm>
          <a:prstGeom prst="ellipse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10311" y="2953512"/>
            <a:ext cx="128016" cy="128016"/>
          </a:xfrm>
          <a:prstGeom prst="ellipse">
            <a:avLst/>
          </a:prstGeom>
          <a:solidFill>
            <a:srgbClr val="56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755648" y="3584448"/>
            <a:ext cx="146304" cy="146304"/>
          </a:xfrm>
          <a:prstGeom prst="ellipse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H="1" flipV="1">
            <a:off x="466344" y="1014984"/>
            <a:ext cx="448056" cy="356616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14400" y="548640"/>
            <a:ext cx="274320" cy="822960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 flipV="1">
            <a:off x="1737360" y="1920240"/>
            <a:ext cx="274320" cy="640080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011680" y="2560320"/>
            <a:ext cx="832104" cy="283464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74320" y="2322576"/>
            <a:ext cx="493776" cy="694944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74320" y="3017520"/>
            <a:ext cx="292608" cy="749808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 flipV="1">
            <a:off x="1463040" y="3291840"/>
            <a:ext cx="365760" cy="365760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828800" y="3657600"/>
            <a:ext cx="850391" cy="576072"/>
          </a:xfrm>
          <a:prstGeom prst="line">
            <a:avLst/>
          </a:prstGeom>
          <a:ln w="6350">
            <a:solidFill>
              <a:srgbClr val="304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91440" y="4754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i="1">
                <a:solidFill>
                  <a:srgbClr val="2E3A46"/>
                </a:solidFill>
                <a:latin typeface="Calibri"/>
              </a:rPr>
              <a:t>NEURAL ARCHITECTURE  ·  DSA GRAPH  ·  RELATIONAL MODEL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2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8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8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8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8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8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8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8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8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8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8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8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8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8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8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8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8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afterPrev" delay="80">
                      <p:childTnLst>
                        <p:par>
                          <p:cTn id="89" fill="hold">
                            <p:childTnLst>
                              <p:par>
                                <p:cTn id="90" presetID="10" presetClass="entr" presetSubtype="0" fill="hold" grpId="17" nodeType="afterPrev"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afterPrev" delay="80">
                      <p:childTnLst>
                        <p:par>
                          <p:cTn id="94" fill="hold">
                            <p:childTnLst>
                              <p:par>
                                <p:cTn id="95" presetID="10" presetClass="entr" presetSubtype="0" fill="hold" grpId="18" nodeType="afterPrev"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afterPrev" delay="80">
                      <p:childTnLst>
                        <p:par>
                          <p:cTn id="99" fill="hold">
                            <p:childTnLst>
                              <p:par>
                                <p:cTn id="100" presetID="10" presetClass="entr" presetSubtype="0" fill="hold" grpId="19" nodeType="afterPrev"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afterPrev" delay="80">
                      <p:childTnLst>
                        <p:par>
                          <p:cTn id="104" fill="hold">
                            <p:childTnLst>
                              <p:par>
                                <p:cTn id="105" presetID="10" presetClass="entr" presetSubtype="0" fill="hold" grpId="20" nodeType="afterPrev"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afterPrev" delay="80">
                      <p:childTnLst>
                        <p:par>
                          <p:cTn id="109" fill="hold">
                            <p:childTnLst>
                              <p:par>
                                <p:cTn id="110" presetID="10" presetClass="entr" presetSubtype="0" fill="hold" grpId="21" nodeType="afterPrev"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afterPrev" delay="80">
                      <p:childTnLst>
                        <p:par>
                          <p:cTn id="114" fill="hold">
                            <p:childTnLst>
                              <p:par>
                                <p:cTn id="115" presetID="10" presetClass="entr" presetSubtype="0" fill="hold" grpId="22" nodeType="afterPrev"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afterPrev" delay="80">
                      <p:childTnLst>
                        <p:par>
                          <p:cTn id="119" fill="hold">
                            <p:childTnLst>
                              <p:par>
                                <p:cTn id="120" presetID="10" presetClass="entr" presetSubtype="0" fill="hold" grpId="23" nodeType="afterPrev"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Prev" delay="80">
                      <p:childTnLst>
                        <p:par>
                          <p:cTn id="124" fill="hold">
                            <p:childTnLst>
                              <p:par>
                                <p:cTn id="125" presetID="10" presetClass="entr" presetSubtype="0" fill="hold" grpId="24" nodeType="afterPrev"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afterPrev" delay="80">
                      <p:childTnLst>
                        <p:par>
                          <p:cTn id="129" fill="hold">
                            <p:childTnLst>
                              <p:par>
                                <p:cTn id="130" presetID="10" presetClass="entr" presetSubtype="0" fill="hold" grpId="25" nodeType="afterPrev"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afterPrev" delay="80">
                      <p:childTnLst>
                        <p:par>
                          <p:cTn id="134" fill="hold">
                            <p:childTnLst>
                              <p:par>
                                <p:cTn id="135" presetID="10" presetClass="entr" presetSubtype="0" fill="hold" grpId="26" nodeType="afterPrev"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afterPrev" delay="80">
                      <p:childTnLst>
                        <p:par>
                          <p:cTn id="139" fill="hold">
                            <p:childTnLst>
                              <p:par>
                                <p:cTn id="140" presetID="10" presetClass="entr" presetSubtype="0" fill="hold" grpId="27" nodeType="afterPrev"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afterPrev" delay="80">
                      <p:childTnLst>
                        <p:par>
                          <p:cTn id="144" fill="hold">
                            <p:childTnLst>
                              <p:par>
                                <p:cTn id="145" presetID="10" presetClass="entr" presetSubtype="0" fill="hold" grpId="28" nodeType="afterPrev"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3" grpId="0" build="p"/>
      <p:bldP spid="5" grpId="1" build="p"/>
      <p:bldP spid="7" grpId="2" build="p"/>
      <p:bldP spid="9" grpId="3" build="p"/>
      <p:bldP spid="11" grpId="4" build="p"/>
      <p:bldP spid="13" grpId="5" build="p"/>
      <p:bldP spid="15" grpId="6" build="p"/>
      <p:bldP spid="17" grpId="7" build="p"/>
      <p:bldP spid="19" grpId="8" build="p"/>
      <p:bldP spid="21" grpId="9" build="p"/>
      <p:bldP spid="23" grpId="10" build="p"/>
      <p:bldP spid="25" grpId="11" build="p"/>
      <p:bldP spid="27" grpId="12" build="p"/>
      <p:bldP spid="28" grpId="13" build="p"/>
      <p:bldP spid="29" grpId="14" build="p"/>
      <p:bldP spid="30" grpId="15" build="p"/>
      <p:bldP spid="31" grpId="16" build="p"/>
      <p:bldP spid="32" grpId="17" build="p"/>
      <p:bldP spid="33" grpId="18" build="p"/>
      <p:bldP spid="34" grpId="19" build="p"/>
      <p:bldP spid="35" grpId="20" build="p"/>
      <p:bldP spid="36" grpId="21" build="p"/>
      <p:bldP spid="37" grpId="22" build="p"/>
      <p:bldP spid="38" grpId="23" build="p"/>
      <p:bldP spid="39" grpId="24" build="p"/>
      <p:bldP spid="40" grpId="25" build="p"/>
      <p:bldP spid="41" grpId="26" build="p"/>
      <p:bldP spid="42" grpId="27" build="p"/>
      <p:bldP spid="43" grpId="28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What If Relationships Run on Data Structures?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58A6FF"/>
                </a:solidFill>
                <a:latin typeface="Calibri"/>
              </a:rPr>
              <a:t>●  </a:t>
            </a:r>
            <a:r>
              <a:rPr sz="1800">
                <a:solidFill>
                  <a:srgbClr val="E6EDF3"/>
                </a:solidFill>
                <a:latin typeface="Calibri"/>
              </a:rPr>
              <a:t>Every relationship follows invisible, computable rules.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0883E"/>
                </a:solidFill>
                <a:latin typeface="Calibri"/>
              </a:rPr>
              <a:t>●  </a:t>
            </a:r>
            <a:r>
              <a:rPr sz="1800">
                <a:solidFill>
                  <a:srgbClr val="E6EDF3"/>
                </a:solidFill>
                <a:latin typeface="Calibri"/>
              </a:rPr>
              <a:t>Patterns of escalation, withdrawal, repair — all traceable.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98C379"/>
                </a:solidFill>
                <a:latin typeface="Calibri"/>
              </a:rPr>
              <a:t>●  </a:t>
            </a:r>
            <a:r>
              <a:rPr sz="1800">
                <a:solidFill>
                  <a:srgbClr val="E6EDF3"/>
                </a:solidFill>
                <a:latin typeface="Calibri"/>
              </a:rPr>
              <a:t>LOST CARD makes these patterns visible. Computationally.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577840"/>
            <a:ext cx="12191695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74320" y="5577840"/>
            <a:ext cx="116430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8A6FF"/>
                </a:solidFill>
                <a:latin typeface="Calibri"/>
              </a:rPr>
              <a:t>The Bet of Belief Framework  —  S. M. Minhal Abbas Rizvi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LOST CARD —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77240"/>
            <a:ext cx="19050" cy="5486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" y="9144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WHAT IT IS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Terminal-based C++17 simulation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Single file · ~2400 lines · STL only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Two modes: Default + Custom (AI)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7 DSA concepts active simultaneously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No external libraries. No dependencies.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F0883E"/>
                </a:solidFill>
                <a:latin typeface="Calibri"/>
              </a:rPr>
              <a:t>WHAT IT DOES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Models relational belief decay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Three cards track psychological states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AI-powered real relationship simulation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Generates deep psychological analysis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Stalemate condition: mutual walk-away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The Bet of Belief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6EDF3"/>
                </a:solidFill>
                <a:latin typeface="Calibri"/>
              </a:rPr>
              <a:t>The Bet of Belief holds that every act of communication in a relationship is a wager. You place cards on the table. So does the other person. The game has no rulebook. Only consequences.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34747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3474720" cy="64008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C678DD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B949E"/>
                </a:solidFill>
                <a:latin typeface="Calibri"/>
              </a:rPr>
              <a:t>Cards in 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926080"/>
            <a:ext cx="34747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97680" y="2926080"/>
            <a:ext cx="347472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89120" y="30175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58A6FF"/>
                </a:solidFill>
                <a:latin typeface="Calibri"/>
              </a:rPr>
              <a:t>0.85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B949E"/>
                </a:solidFill>
                <a:latin typeface="Calibri"/>
              </a:rPr>
              <a:t>Amygdala override threshold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926080"/>
            <a:ext cx="34747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229600" y="2926080"/>
            <a:ext cx="3474720" cy="64008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B949E"/>
                </a:solidFill>
                <a:latin typeface="Calibri"/>
              </a:rPr>
              <a:t>Moves per session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afterPrev" delay="250">
                      <p:childTnLst>
                        <p:par>
                          <p:cTn id="89" fill="hold">
                            <p:childTnLst>
                              <p:par>
                                <p:cTn id="90" presetID="10" presetClass="entr" presetSubtype="0" fill="hold" grpId="17" nodeType="afterPrev"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  <p:bldP spid="27" grpId="17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The Three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05840"/>
            <a:ext cx="3566160" cy="4389120"/>
          </a:xfrm>
          <a:prstGeom prst="rect">
            <a:avLst/>
          </a:prstGeom>
          <a:solidFill>
            <a:srgbClr val="161B22"/>
          </a:solidFill>
          <a:ln w="1905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74320" y="1005840"/>
            <a:ext cx="3566160" cy="64008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404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78DD"/>
                </a:solidFill>
                <a:latin typeface="Calibri"/>
              </a:rPr>
              <a:t>DEVOTION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50876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Emotional investment &amp; boundary-setting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Lost through: over-investment before foundation holds it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DROP CONDITIONS: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AGGRESSIVE + NLI &lt; 0.30 (habitual aggression)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Trust &lt; 0.55 + Dopamine &gt; 0.70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005840"/>
            <a:ext cx="3566160" cy="4389120"/>
          </a:xfrm>
          <a:prstGeom prst="rect">
            <a:avLst/>
          </a:prstGeom>
          <a:solidFill>
            <a:srgbClr val="161B22"/>
          </a:solidFill>
          <a:ln w="19050">
            <a:solidFill>
              <a:srgbClr val="56B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14800" y="1005840"/>
            <a:ext cx="3566160" cy="64008"/>
          </a:xfrm>
          <a:prstGeom prst="rect">
            <a:avLst/>
          </a:prstGeom>
          <a:solidFill>
            <a:srgbClr val="56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2452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6B6C2"/>
                </a:solidFill>
                <a:latin typeface="Calibri"/>
              </a:rPr>
              <a:t>EXCITEMENT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150876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Relational energy, engagement &amp; curiosity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Lost through: reactive escalation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DROP CONDITIONS: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Stack depth ≥ 4 + AGGRESSIVE move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2 consecutive AGGRESSIVE moves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005840"/>
            <a:ext cx="3566160" cy="4389120"/>
          </a:xfrm>
          <a:prstGeom prst="rect">
            <a:avLst/>
          </a:prstGeom>
          <a:solidFill>
            <a:srgbClr val="161B22"/>
          </a:solidFill>
          <a:ln w="1905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955279" y="1005840"/>
            <a:ext cx="3566160" cy="64008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65007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8C379"/>
                </a:solidFill>
                <a:latin typeface="Calibri"/>
              </a:rPr>
              <a:t>PRESENCE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7" y="150876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Psychological availability &amp; attentiveness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Lost through: anxiety-driven withdrawal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DROP CONDITIONS: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3+ SILENT moves total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3 consecutive NLI &gt; 0.75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Neurological Load Index (NLI)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  <a:latin typeface="Calibri"/>
              </a:rPr>
              <a:t>NLI = (PFC × 0.4) + (Cortisol × 0.4) + (1 − Dopamine) × 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78DD"/>
                </a:solidFill>
                <a:latin typeface="Calibri"/>
              </a:rPr>
              <a:t>PFC Load  </a:t>
            </a:r>
            <a:r>
              <a:rPr sz="1200">
                <a:solidFill>
                  <a:srgbClr val="E6EDF3"/>
                </a:solidFill>
                <a:latin typeface="Calibri"/>
              </a:rPr>
              <a:t>Prefrontal Cortex degradation  ·  0.0 = clear thinking  →  1.0 = overwhelmed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06C75"/>
                </a:solidFill>
                <a:latin typeface="Calibri"/>
              </a:rPr>
              <a:t>Cortisol  </a:t>
            </a:r>
            <a:r>
              <a:rPr sz="1200">
                <a:solidFill>
                  <a:srgbClr val="E6EDF3"/>
                </a:solidFill>
                <a:latin typeface="Calibri"/>
              </a:rPr>
              <a:t>Stress hormone accumulation  ·  0.0 = calm  →  1.0 = overwhelmed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8C379"/>
                </a:solidFill>
                <a:latin typeface="Calibri"/>
              </a:rPr>
              <a:t>Dopamine  </a:t>
            </a:r>
            <a:r>
              <a:rPr sz="1200">
                <a:solidFill>
                  <a:srgbClr val="E6EDF3"/>
                </a:solidFill>
                <a:latin typeface="Calibri"/>
              </a:rPr>
              <a:t>Reward motivation  ·  1.0 = fully active  →  0.0 = depleted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2651760" cy="64008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1117"/>
                </a:solidFill>
                <a:latin typeface="Calibri"/>
              </a:rPr>
              <a:t>NLI &lt; 0.30 — HARMONY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663440"/>
            <a:ext cx="2651760" cy="640080"/>
          </a:xfrm>
          <a:prstGeom prst="rect">
            <a:avLst/>
          </a:prstGeom>
          <a:solidFill>
            <a:srgbClr val="E5C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46634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1117"/>
                </a:solidFill>
                <a:latin typeface="Calibri"/>
              </a:rPr>
              <a:t>0.30–0.70 — FRACTURE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663440"/>
            <a:ext cx="2651760" cy="6400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72200" y="46634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1117"/>
                </a:solidFill>
                <a:latin typeface="Calibri"/>
              </a:rPr>
              <a:t>&gt; 0.70 — COLLAPSE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4663440"/>
            <a:ext cx="2651760" cy="64008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06840" y="46634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D1117"/>
                </a:solidFill>
                <a:latin typeface="Calibri"/>
              </a:rPr>
              <a:t>&gt; 0.85 — AMYGDALA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Three Move Types — Every Input Classified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05840"/>
            <a:ext cx="356616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74320" y="1005840"/>
            <a:ext cx="3566160" cy="64008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404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8C379"/>
                </a:solidFill>
                <a:latin typeface="Calibri"/>
              </a:rPr>
              <a:t>SOFT  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508760"/>
            <a:ext cx="33375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Repair, warmth, acknowledgment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Genuine vulnerability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De-escalation attempt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Effect: PFC↓  Cortisol↓  Dopamine↑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005840"/>
            <a:ext cx="356616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97680" y="1005840"/>
            <a:ext cx="3566160" cy="64008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0740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06C75"/>
                </a:solidFill>
                <a:latin typeface="Calibri"/>
              </a:rPr>
              <a:t>AGGRESSIVE  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1508760"/>
            <a:ext cx="33375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Reactive, defensive, dismissive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Contemptuous, blame-shifting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Escalatory language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Effect: PFC↑↑  Cortisol↑↑  Dopamine↓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005840"/>
            <a:ext cx="356616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321040" y="1005840"/>
            <a:ext cx="3566160" cy="64008"/>
          </a:xfrm>
          <a:prstGeom prst="rect">
            <a:avLst/>
          </a:prstGeom>
          <a:solidFill>
            <a:srgbClr val="E5C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3076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5C07B"/>
                </a:solidFill>
                <a:latin typeface="Calibri"/>
              </a:rPr>
              <a:t>SILENT  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508760"/>
            <a:ext cx="33375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Withdrawal, stonewalling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Minimal or avoidant response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Physical presence, psychological absence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Effect: PFC↑  Cortisol↑  MirrorNeurons↓↓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7 DSA Concepts — All Active Simultaneously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804672"/>
          <a:ext cx="108813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3474720"/>
                <a:gridCol w="1737360"/>
              </a:tblGrid>
              <a:tr h="658368"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</a:pPr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DSA Concept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</a:pPr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Psychology Mapped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</a:pPr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Key Mechanic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</a:pPr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O(?)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Weighted DAG + Dijkstra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Hippocampus / Memory Decay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Edge degradation → exit path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58A6FF"/>
                          </a:solidFill>
                          <a:latin typeface="Calibri"/>
                        </a:rPr>
                        <a:t>O((V+E)log V)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LIFO Stack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Cortisol Accumulation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NLI-gated pop (≥0.50 rejected)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58A6FF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Min-Heap Priority Queue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PFC / Choice Corruption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Stress-weighted ranking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58A6FF"/>
                          </a:solidFill>
                          <a:latin typeface="Calibri"/>
                        </a:rPr>
                        <a:t>O(log n)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Singly Linked List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Default Mode / Longing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Intentional memory leak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58A6FF"/>
                          </a:solidFill>
                          <a:latin typeface="Calibri"/>
                        </a:rPr>
                        <a:t>O(1) insert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Hash Map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Sovereign Key / Identity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Protected hash lookup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58A6FF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Finite State Machine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Relationship Phases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NLI-driven transitions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58A6FF"/>
                          </a:solidFill>
                          <a:latin typeface="Calibri"/>
                        </a:rPr>
                        <a:t>O(1)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Minimax Algorithm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Game Theory / Chess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E6EDF3"/>
                          </a:solidFill>
                          <a:latin typeface="Calibri"/>
                        </a:rPr>
                        <a:t>Position eval per move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300"/>
                        </a:spcBef>
                      </a:pPr>
                      <a:r>
                        <a:rPr sz="1000">
                          <a:solidFill>
                            <a:srgbClr val="58A6FF"/>
                          </a:solidFill>
                          <a:latin typeface="Calibri"/>
                        </a:rPr>
                        <a:t>O(b^d)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DSA #1 — Weighted DAG + Dijkstra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8686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HIPPOCAMPAL MEMORY NETWORK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22 nodes = 22 relational moments (Origin → Exit)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Edge weights = emotional valence (+0.9 to −1.0)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AGGRESSIVE degrades all edges by 0.06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SOFT recovers edges by 0.03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Dijkstra finds shortest path to Exit node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Short exit path = relationship near collapse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868680"/>
            <a:ext cx="594360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0" y="868680"/>
            <a:ext cx="54864" cy="4572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62472" y="9601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float dijkstraExitPath()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    vector&lt;float&gt; dist(N, INF);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priority_queue&lt;pair&lt;float,int&gt;,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        vector&lt;pair&lt;float,int&gt;&gt;,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greater&lt;&gt;&gt; pq;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dist[0] = 0.0f;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pq.push({0.0f, 0});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while (!pq.empty())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        auto [d, u] = pq.top(); pq.pop();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if (nodes[u]-&gt;locked) continue;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for (auto&amp; e : adj[u])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            float nd = d + edgeCost(e.valence);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    if (nd &lt; dist[e.to])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        dist[e.to] = nd;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        pq.push({nd, e.to});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return dist[N-1]; // exit node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O((V+E) log V)  ·  V=22 nodes  ·  E=relational edges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DSA #2 — LIFO Stack — Cortisol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8686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UNRESOLVED CONFLICT ACCUMULATION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Max depth = 7 (nervous system capacity)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AGGRESSIVE / SILENT → push(conflict_label)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SOFT → pop() — BUT only if NLI &lt; 0.50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If NLI ≥ 0.50: pop rejected (too stressed to repair)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Stack overflow at depth 7 → EXCITEMENT CARD LOST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The NLI gate models: repair requires a window of calm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868680"/>
            <a:ext cx="594360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0" y="868680"/>
            <a:ext cx="54864" cy="4114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62472" y="96012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bool pop(float nli)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if (s.empty()) return false;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if (nli &gt;= 0.50f)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    popRejections++;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    return false; // too stressed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s.pop();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return true;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void push(const std::string&amp; label)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if ((int)s.size() &gt;= MAX_DEPTH)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    overflowed = true; // TC_STACK_OVERFLOW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    return;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s.push(label);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O(1) push / pop / peek  ·  MAX_DEPTH = 7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DSA #3 — Min-Heap Priority Queue — PFC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868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PREFRONTAL CORTEX CHOICE CORRUPTION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PFC = rational choice centre of the brain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Under stress (NLI &gt; 0.40): PFC compromised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Amygdala (threat centre) overrides rational ranking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At NLI ≥ 0.85: AGGRESSIVE surfaced first = override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The comparator itself is corrupted by stress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530352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1480" y="4206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E6EDF3"/>
                </a:solidFill>
                <a:latin typeface="Calibri"/>
              </a:rPr>
              <a:t>When the priority queue comparator is reweighted by stress, the ‘rational’ option is no longer ranked highest. The aggressive response surfaces first — not by choice, but by 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868680"/>
            <a:ext cx="5943600" cy="3657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943600" y="868680"/>
            <a:ext cx="54864" cy="3657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62472" y="960120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void record(ChoiceType chosen, float nli)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presentations++;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if (nli &gt; 0.4f) pfcCompromised++;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if (chosen == AGGRESSIVE)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    aggressiveSurfaced++;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At NLI &gt;= 0.85: amygdala override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Priority comparator shifts: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high-stress weight → AGGRESSIVE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rational weight    → SOFT (buried)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DSA #4 — Singly Linked List — Longing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868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DEFAULT MODE NETWORK — MEMORY LEAK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DMN activates during rest: involuntary memory retrieval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Lost relational memories = orphaned pointer nodes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No valid address. Still occupying space.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The destructor intentionally does NOT free Moment* data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This is the architecture of longing — not a bug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530352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1480" y="4297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0883E"/>
                </a:solidFill>
                <a:latin typeface="Calibri"/>
              </a:rPr>
              <a:t>“The memory leak is not a bug. It is the architecture of longing.”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868680"/>
            <a:ext cx="594360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943600" y="868680"/>
            <a:ext cx="54864" cy="4114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62472" y="96012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void insert(Moment* m)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LeakNode* n = new LeakNode(m);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n-&gt;next = head;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head = 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m = nullptr; // orphaned — no valid address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count++;     // but the memory remains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~LongingList()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    // LeakNode wrappers: freed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    // Moment* 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    //   INTENTIONALLY NOT FREED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    //   This IS the longing.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DSA #5 — Hash Map — Sovereign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8686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IDENTITY &amp; SELECTIVE MEMORY ACCESS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Some truths in a relationship are locked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Only accessible through specific identity keys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Two protected segments stored as hash(key) → content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“LOSTCARD_SOVEREIGN”: full recovery path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“HANI_KNOWS”: what he felt but never said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O(1) average lookup via std::unordered_map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868680"/>
            <a:ext cx="594360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0" y="868680"/>
            <a:ext cx="54864" cy="4114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62472" y="96012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unordered_map&lt;size_t,string&gt; protectedSegments;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key: hash("LOSTCARD_SOVEREIGN")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val: "Full recovery — exact move each card dropped"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key: hash("HANI_KNOWS")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val: "What he felt but never said"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bool checkKey(const string&amp; input)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hash&lt;string&gt; h;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    size_t k = h(input);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return protectedSegments.count(k) &gt;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DSA #6 — Finite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103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F0883E"/>
                </a:solidFill>
                <a:latin typeface="Calibri"/>
              </a:rPr>
              <a:t>TERMINAL TRIGGERS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TC_ALL_CARDS_LOST | TC_CHECKMATE | TC_AMYGDALA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TC_STACK_OVERFLOW | TC_TRUST_FLOOR | TC_MAX_MOVES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TC_STALEMATE (new — farewell detection)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5661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Relationship deterioration is not linear. It occurs in discrete phase shifts — exactly as a finite automaton transitions states.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868680"/>
            <a:ext cx="594360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943600" y="868680"/>
            <a:ext cx="54864" cy="4572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062472" y="9601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enum SimState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HARMONY, FRACTURE, COLLAPSE, TERMINAL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// NLI-driven transition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if      (nli &lt; 0.30f) state = HARMONY;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else if (nli &lt; 0.70f) state = FRACTURE;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else                   state = COLLAPSE;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// Terminal triggers: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// TC_ALL_CARDS_LOST | TC_CHECKMATE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// TC_AMYGDALA       | TC_STACK_OVERFLOW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// TC_TRUST_FLOOR    | TC_MAX_MOVES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// TC_STALEMATE      (farewell detected)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1005840"/>
            <a:ext cx="1005840" cy="914400"/>
          </a:xfrm>
          <a:prstGeom prst="rect">
            <a:avLst/>
          </a:prstGeom>
          <a:solidFill>
            <a:srgbClr val="1A4A2A"/>
          </a:solidFill>
          <a:ln w="1905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10896" y="1042416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HARMONY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10896" y="1463040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NLI &lt; 0.30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25880" y="13258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00200" y="1005840"/>
            <a:ext cx="1005840" cy="914400"/>
          </a:xfrm>
          <a:prstGeom prst="rect">
            <a:avLst/>
          </a:prstGeom>
          <a:solidFill>
            <a:srgbClr val="4A3A10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1636776" y="1042416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FRACTURE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36776" y="1463040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0.30 - 0.70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51760" y="13258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926080" y="1005840"/>
            <a:ext cx="1005840" cy="914400"/>
          </a:xfrm>
          <a:prstGeom prst="rect">
            <a:avLst/>
          </a:prstGeom>
          <a:solidFill>
            <a:srgbClr val="4A2A10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2962656" y="1042416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COLLAPSE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62656" y="1463040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NLI &gt;= 0.70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77640" y="13258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251960" y="1005840"/>
            <a:ext cx="1005840" cy="914400"/>
          </a:xfrm>
          <a:prstGeom prst="rect">
            <a:avLst/>
          </a:prstGeom>
          <a:solidFill>
            <a:srgbClr val="4A1010"/>
          </a:solidFill>
          <a:ln w="190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4288536" y="1042416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</a:rPr>
              <a:t>TERMINAL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288536" y="1463040"/>
            <a:ext cx="932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end state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afterPrev" delay="250">
                      <p:childTnLst>
                        <p:par>
                          <p:cTn id="89" fill="hold">
                            <p:childTnLst>
                              <p:par>
                                <p:cTn id="90" presetID="10" presetClass="entr" presetSubtype="0" fill="hold" grpId="17" nodeType="afterPrev"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afterPrev" delay="250">
                      <p:childTnLst>
                        <p:par>
                          <p:cTn id="94" fill="hold">
                            <p:childTnLst>
                              <p:par>
                                <p:cTn id="95" presetID="10" presetClass="entr" presetSubtype="0" fill="hold" grpId="18" nodeType="afterPrev"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afterPrev" delay="250">
                      <p:childTnLst>
                        <p:par>
                          <p:cTn id="99" fill="hold">
                            <p:childTnLst>
                              <p:par>
                                <p:cTn id="100" presetID="10" presetClass="entr" presetSubtype="0" fill="hold" grpId="19" nodeType="afterPrev"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afterPrev" delay="250">
                      <p:childTnLst>
                        <p:par>
                          <p:cTn id="104" fill="hold">
                            <p:childTnLst>
                              <p:par>
                                <p:cTn id="105" presetID="10" presetClass="entr" presetSubtype="0" fill="hold" grpId="20" nodeType="afterPrev"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afterPrev" delay="250">
                      <p:childTnLst>
                        <p:par>
                          <p:cTn id="109" fill="hold">
                            <p:childTnLst>
                              <p:par>
                                <p:cTn id="110" presetID="10" presetClass="entr" presetSubtype="0" fill="hold" grpId="21" nodeType="afterPrev"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afterPrev" delay="250">
                      <p:childTnLst>
                        <p:par>
                          <p:cTn id="114" fill="hold">
                            <p:childTnLst>
                              <p:par>
                                <p:cTn id="115" presetID="10" presetClass="entr" presetSubtype="0" fill="hold" grpId="22" nodeType="afterPrev"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afterPrev" delay="250">
                      <p:childTnLst>
                        <p:par>
                          <p:cTn id="119" fill="hold">
                            <p:childTnLst>
                              <p:par>
                                <p:cTn id="120" presetID="10" presetClass="entr" presetSubtype="0" fill="hold" grpId="23" nodeType="afterPrev"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Prev" delay="250">
                      <p:childTnLst>
                        <p:par>
                          <p:cTn id="124" fill="hold">
                            <p:childTnLst>
                              <p:par>
                                <p:cTn id="125" presetID="10" presetClass="entr" presetSubtype="0" fill="hold" grpId="24" nodeType="afterPrev"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  <p:bldP spid="27" grpId="17" build="p"/>
      <p:bldP spid="28" grpId="18" build="p"/>
      <p:bldP spid="29" grpId="19" build="p"/>
      <p:bldP spid="30" grpId="20" build="p"/>
      <p:bldP spid="31" grpId="21" build="p"/>
      <p:bldP spid="32" grpId="22" build="p"/>
      <p:bldP spid="33" grpId="23" build="p"/>
      <p:bldP spid="34" grpId="24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DSA #7 — Minimax Algorithm — Chess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8686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CONSEQUENCE ANTICIPATION — GAME THEORY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The Immortal Game (Anderssen, 1851) — 23 moves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SOFT → position improves (+0.15, minimax depth 2)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AGGRESSIVE → position damaged (−0.40, amygdala penalty)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SILENT → passive disadvantage (−0.12)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eval ≤ −5.0 → CHECKMATE terminal condition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Chosen game: “A player who sacrifices brilliantly but overcommits — and loses.”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868680"/>
            <a:ext cx="594360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0" y="868680"/>
            <a:ext cx="54864" cy="4114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62472" y="96012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678DD"/>
                </a:solidFill>
                <a:latin typeface="Consolas"/>
              </a:rPr>
              <a:t>float minimax(float base, int depth, bool max)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if (depth == 0) return base;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if (max)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        // opponent plays optimally against you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    return minimax(base + 0.25f, depth-1, false);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} else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    return minimax(base - 0.18f, depth-1, true);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Move scoring: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SOFT:       base += 0.15  (depth 2 lookahead)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AGGRESSIVE: base -= 0.40  (amygdala penalty)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B949E"/>
                </a:solidFill>
                <a:latin typeface="Consolas"/>
              </a:rPr>
              <a:t>// SILENT:     base -= 0.12  (passive disadvantage)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O(b^d) = O(4) at depth 2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When Do Cards Drop?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05840"/>
            <a:ext cx="356616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74320" y="1005840"/>
            <a:ext cx="3566160" cy="64008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404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678DD"/>
                </a:solidFill>
                <a:latin typeface="Calibri"/>
              </a:rPr>
              <a:t>DEVOTION — DROP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508760"/>
            <a:ext cx="33375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AGGRESSIVE move + NLI &lt; 0.30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→ Low-stress habitual aggression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Trust &lt; 0.55 AND Dopamine &gt; 0.70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→ High reward blindspot while eroding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Once dropped: irreversible this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005840"/>
            <a:ext cx="356616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56B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06240" y="1005840"/>
            <a:ext cx="3566160" cy="64008"/>
          </a:xfrm>
          <a:prstGeom prst="rect">
            <a:avLst/>
          </a:prstGeom>
          <a:solidFill>
            <a:srgbClr val="56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1596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6B6C2"/>
                </a:solidFill>
                <a:latin typeface="Calibri"/>
              </a:rPr>
              <a:t>EXCITEMENT — DROP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1508760"/>
            <a:ext cx="33375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Stack depth ≥ 4 + AGGRESSIVE move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→ Conflict buffer near overflow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2 consecutive AGGRESSIVE moves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→ Impulse replaced judgment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NLI-gated pop rejected 3+ times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005840"/>
            <a:ext cx="356616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38160" y="1005840"/>
            <a:ext cx="3566160" cy="64008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47888" y="10972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8C379"/>
                </a:solidFill>
                <a:latin typeface="Calibri"/>
              </a:rPr>
              <a:t>PRESENCE — DROP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508760"/>
            <a:ext cx="33375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3+ SILENT moves total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→ Withdrawal became default mode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3 consecutive moves with NLI &gt; 0.75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    → Psychological check-out under load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Default Mode — The Scripted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77240"/>
            <a:ext cx="19050" cy="5486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" y="9144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THE IMMORTAL GAME + UMME-LAILA &amp; HANI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23-move scripted narrative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Characters: Umm-e-Laila &amp; Hani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3 unlabelled choices per move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Player does not know which is SOFT/AGGRESSIVE/SILENT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All 7 DSA structures active simultaneously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Longing list builds through all 23 moves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Terminal condition checked after every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F0883E"/>
                </a:solidFill>
                <a:latin typeface="Calibri"/>
              </a:rPr>
              <a:t>WHAT GETS TRACKED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NLI score per move (real-time)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Card status: SAFE / WARNING / DROPPED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Chess position evaluation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Stack depth (conflict buffer)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Dijkstra shortest exit path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PFC compromise counter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Post-game psychological DSA report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Custom Mode — AI Relationship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77240"/>
            <a:ext cx="19050" cy="5486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" y="9144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SETUP — YOU DEFINE THE RELATIONSHIP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Your name + their name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Relationship type (ex / partner / close friend)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How you met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Current state (1-3 sentences)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Your gender + their gender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Groq API (primary) + DeepSeek (fallback)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F0883E"/>
                </a:solidFill>
                <a:latin typeface="Calibri"/>
              </a:rPr>
              <a:t>WHAT THE AI DOES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Fully embodies the other person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Never breaks character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Responds to intimacy with vulnerability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23-move dialogue with live card tracking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Analyst section after every move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Escalation arc: 4 phases across 23 moves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58A6FF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Deep analysis report at session end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AI Architecture — Language &amp;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05840"/>
            <a:ext cx="11612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11480" y="1051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8A6FF"/>
                </a:solidFill>
                <a:latin typeface="Calibri"/>
              </a:rPr>
              <a:t>LANGUAGE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417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▸ Default: 95% English regardless of user language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▸ Roman Urdu Exception: if user writes in Latin Urdu (mujhe, nahi, kya, tha, baat, acha, yaar), respond in Roman Urdu — Pakistani, NOT Hindi vocabulary, never Devanagari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116128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11480" y="26060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78DD"/>
                </a:solidFill>
                <a:latin typeface="Calibri"/>
              </a:rPr>
              <a:t>CHARACTER INTEGRITY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97180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▸ NEVER say "I'm leaving" or step out of character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▸ NEVER reference the simulation, AI, algorithms, or Lost Card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▸ Respond to warmth with warmth — intimacy receives vulnerability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▸ Show subtext: what is said ≠ what is felt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6EDF3"/>
                </a:solidFill>
                <a:latin typeface="Calibri"/>
              </a:rPr>
              <a:t>▸ 1-3 sentence responses. Short when hurt or withdrawing.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4320" y="4114800"/>
            <a:ext cx="11612880" cy="2148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883E"/>
                </a:solidFill>
                <a:latin typeface="Calibri"/>
              </a:rPr>
              <a:t>ESCALATION ARC — 4 PHASES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2743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2743200" cy="54864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5760" y="4709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8C379"/>
                </a:solidFill>
                <a:latin typeface="Calibri"/>
              </a:rPr>
              <a:t>Moves 1-7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Cautious. Guarded. Small moments of warmth.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663440"/>
            <a:ext cx="2743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C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291840" y="4709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5C07B"/>
                </a:solidFill>
                <a:latin typeface="Calibri"/>
              </a:rPr>
              <a:t>Moves 8-13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Edge in responses. Patience thinner.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663440"/>
            <a:ext cx="2743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26480" y="4663440"/>
            <a:ext cx="2743200" cy="5486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7920" y="4709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0883E"/>
                </a:solidFill>
                <a:latin typeface="Calibri"/>
              </a:rPr>
              <a:t>Moves 14-18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Emotionally strained. Defensive.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4663440"/>
            <a:ext cx="27432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052560" y="4663440"/>
            <a:ext cx="2743200" cy="54864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0" y="4709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75"/>
                </a:solidFill>
                <a:latin typeface="Calibri"/>
              </a:rPr>
              <a:t>Moves 19-23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EDF3"/>
                </a:solidFill>
                <a:latin typeface="Calibri"/>
              </a:rPr>
              <a:t>Near breaking point. Filters down.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afterPrev" delay="250">
                      <p:childTnLst>
                        <p:par>
                          <p:cTn id="89" fill="hold">
                            <p:childTnLst>
                              <p:par>
                                <p:cTn id="90" presetID="10" presetClass="entr" presetSubtype="0" fill="hold" grpId="17" nodeType="afterPrev"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afterPrev" delay="250">
                      <p:childTnLst>
                        <p:par>
                          <p:cTn id="94" fill="hold">
                            <p:childTnLst>
                              <p:par>
                                <p:cTn id="95" presetID="10" presetClass="entr" presetSubtype="0" fill="hold" grpId="18" nodeType="afterPrev"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afterPrev" delay="250">
                      <p:childTnLst>
                        <p:par>
                          <p:cTn id="99" fill="hold">
                            <p:childTnLst>
                              <p:par>
                                <p:cTn id="100" presetID="10" presetClass="entr" presetSubtype="0" fill="hold" grpId="19" nodeType="afterPrev"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afterPrev" delay="250">
                      <p:childTnLst>
                        <p:par>
                          <p:cTn id="104" fill="hold">
                            <p:childTnLst>
                              <p:par>
                                <p:cTn id="105" presetID="10" presetClass="entr" presetSubtype="0" fill="hold" grpId="20" nodeType="afterPrev"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afterPrev" delay="250">
                      <p:childTnLst>
                        <p:par>
                          <p:cTn id="109" fill="hold">
                            <p:childTnLst>
                              <p:par>
                                <p:cTn id="110" presetID="10" presetClass="entr" presetSubtype="0" fill="hold" grpId="21" nodeType="afterPrev"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afterPrev" delay="250">
                      <p:childTnLst>
                        <p:par>
                          <p:cTn id="114" fill="hold">
                            <p:childTnLst>
                              <p:par>
                                <p:cTn id="115" presetID="10" presetClass="entr" presetSubtype="0" fill="hold" grpId="22" nodeType="afterPrev"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afterPrev" delay="250">
                      <p:childTnLst>
                        <p:par>
                          <p:cTn id="119" fill="hold">
                            <p:childTnLst>
                              <p:par>
                                <p:cTn id="120" presetID="10" presetClass="entr" presetSubtype="0" fill="hold" grpId="23" nodeType="afterPrev"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Prev" delay="250">
                      <p:childTnLst>
                        <p:par>
                          <p:cTn id="124" fill="hold">
                            <p:childTnLst>
                              <p:par>
                                <p:cTn id="125" presetID="10" presetClass="entr" presetSubtype="0" fill="hold" grpId="24" nodeType="afterPrev"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afterPrev" delay="250">
                      <p:childTnLst>
                        <p:par>
                          <p:cTn id="129" fill="hold">
                            <p:childTnLst>
                              <p:par>
                                <p:cTn id="130" presetID="10" presetClass="entr" presetSubtype="0" fill="hold" grpId="25" nodeType="afterPrev"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afterPrev" delay="250">
                      <p:childTnLst>
                        <p:par>
                          <p:cTn id="134" fill="hold">
                            <p:childTnLst>
                              <p:par>
                                <p:cTn id="135" presetID="10" presetClass="entr" presetSubtype="0" fill="hold" grpId="26" nodeType="afterPrev"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afterPrev" delay="250">
                      <p:childTnLst>
                        <p:par>
                          <p:cTn id="139" fill="hold">
                            <p:childTnLst>
                              <p:par>
                                <p:cTn id="140" presetID="10" presetClass="entr" presetSubtype="0" fill="hold" grpId="27" nodeType="afterPrev"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  <p:bldP spid="27" grpId="17" build="p"/>
      <p:bldP spid="28" grpId="18" build="p"/>
      <p:bldP spid="29" grpId="19" build="p"/>
      <p:bldP spid="30" grpId="20" build="p"/>
      <p:bldP spid="31" grpId="21" build="p"/>
      <p:bldP spid="32" grpId="22" build="p"/>
      <p:bldP spid="33" grpId="23" build="p"/>
      <p:bldP spid="34" grpId="24" build="p"/>
      <p:bldP spid="35" grpId="25" build="p"/>
      <p:bldP spid="36" grpId="26" build="p"/>
      <p:bldP spid="37" grpId="27" build="p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Stalemate — When You Say Goodbye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868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FAREWELL DETECTION SYSTEM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25+ trigger phrases in English + Roman Urdu: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  bye/byy/byyy · goodbye · jaa raha/ja raha hoon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  mein/main ja · alvida · khuda hafiz · i'm leaving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  nikal raha/rhi · jata/jati hoon · see ya/gotta go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  chal chalta/chalti · leaving now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Detected → bypasses normal turn flow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AI responds: cold · slightly sharp · hurt pride · no chasing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58A6FF"/>
                </a:solidFill>
                <a:latin typeface="Calibri"/>
              </a:rPr>
              <a:t>▸ </a:t>
            </a:r>
            <a:r>
              <a:rPr sz="1100">
                <a:solidFill>
                  <a:srgbClr val="E6EDF3"/>
                </a:solidFill>
                <a:latin typeface="Calibri"/>
              </a:rPr>
              <a:t>Move registered as SILENT (withdrawal)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74920"/>
            <a:ext cx="530352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1480" y="513892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5C07B"/>
                </a:solidFill>
                <a:latin typeface="Calibri"/>
              </a:rPr>
              <a:t>STALEMATE — BOTH PLAYERS WALKED AWAY</a:t>
            </a:r>
          </a:p>
          <a:p>
            <a:r>
              <a:rPr sz="1000" b="0">
                <a:solidFill>
                  <a:srgbClr val="E6EDF3"/>
                </a:solidFill>
                <a:latin typeface="Calibri"/>
              </a:rPr>
              <a:t>You said goodbye first. They did not chase.</a:t>
            </a:r>
          </a:p>
          <a:p>
            <a:r>
              <a:rPr sz="1000" b="0">
                <a:solidFill>
                  <a:srgbClr val="E6EDF3"/>
                </a:solidFill>
                <a:latin typeface="Calibri"/>
              </a:rPr>
              <a:t>That is the answer to the question you never asked.</a:t>
            </a:r>
          </a:p>
          <a:p>
            <a:r>
              <a:rPr sz="1000" b="0">
                <a:solidFill>
                  <a:srgbClr val="E6EDF3"/>
                </a:solidFill>
                <a:latin typeface="Calibri"/>
              </a:rPr>
              <a:t>A stalemate is not a loss. It is a loss that learned to walk.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868680"/>
            <a:ext cx="594360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943600" y="868680"/>
            <a:ext cx="54864" cy="4572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62472" y="9601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// After reading userInput: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if (isFarewellMsg(userInput))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    std::string farSys = sysPrompt 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8C379"/>
                </a:solidFill>
                <a:latin typeface="Consolas"/>
              </a:rPr>
              <a:t>        "\nFINAL EXCHANGE: Not begging. 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8C379"/>
                </a:solidFill>
                <a:latin typeface="Consolas"/>
              </a:rPr>
              <a:t>        "Cold. Hurt pride. One sting. 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8C379"/>
                </a:solidFill>
                <a:latin typeface="Consolas"/>
              </a:rPr>
              <a:t>        "Let them go.";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678DD"/>
                </a:solidFill>
                <a:latin typeface="Consolas"/>
              </a:rPr>
              <a:t>    std::string fr = callAnthropic(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    groqKey, deepseekKey, farSys, history);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    // Print cold goodbye from AI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slowPrint(splitResp(fr).roleA, 16);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    // STALEMATE terminal screen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Consolas"/>
              </a:rPr>
              <a:t>    // → still runs CMReport + AI Analysis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    break;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isFarewellMsg() checks 25+ English + Roman Urdu triggers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Terminal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14400"/>
            <a:ext cx="530352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74320" y="914400"/>
            <a:ext cx="5303520" cy="54864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75"/>
                </a:solidFill>
                <a:latin typeface="Calibri"/>
              </a:rPr>
              <a:t>TC_ALL_CARDS_LOST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417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All 3 cards dropped. Hand empty.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48840"/>
            <a:ext cx="530352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74320" y="2148840"/>
            <a:ext cx="5303520" cy="54864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84048" y="222199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78DD"/>
                </a:solidFill>
                <a:latin typeface="Calibri"/>
              </a:rPr>
              <a:t>TC_CHECKMATE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2651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Chess eval ≤ −5.0. Immortal Game ends.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530352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274320" y="3383280"/>
            <a:ext cx="5303520" cy="5486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84048" y="345643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0883E"/>
                </a:solidFill>
                <a:latin typeface="Calibri"/>
              </a:rPr>
              <a:t>TC_AMYGDALA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886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NLI ≥ 0.85. PFC went dark. Last choice was not yours.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530352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74320" y="4617720"/>
            <a:ext cx="5303520" cy="54864"/>
          </a:xfrm>
          <a:prstGeom prst="rect">
            <a:avLst/>
          </a:prstGeom>
          <a:solidFill>
            <a:srgbClr val="E5C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84048" y="469087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5C07B"/>
                </a:solidFill>
                <a:latin typeface="Calibri"/>
              </a:rPr>
              <a:t>TC_STALEMATE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120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Both walked away. You left first. They didn't chase.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914400"/>
            <a:ext cx="530352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7920" y="914400"/>
            <a:ext cx="5303520" cy="54864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27648" y="98755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75"/>
                </a:solidFill>
                <a:latin typeface="Calibri"/>
              </a:rPr>
              <a:t>TC_STACK_OVERFLOW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1417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Depth 7 reached. 7 unresolved conflicts. Cannot hold more.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148840"/>
            <a:ext cx="530352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17920" y="2148840"/>
            <a:ext cx="5303520" cy="54864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27648" y="222199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78DD"/>
                </a:solidFill>
                <a:latin typeface="Calibri"/>
              </a:rPr>
              <a:t>TC_TRUST_FLOOR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2651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Trust &lt; 0.15. Dijkstra exit = 1 step.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383280"/>
            <a:ext cx="530352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217920" y="3383280"/>
            <a:ext cx="5303520" cy="54864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27648" y="345643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8C379"/>
                </a:solidFill>
                <a:latin typeface="Calibri"/>
              </a:rPr>
              <a:t>TC_MAX_MOVES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886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EDF3"/>
                </a:solidFill>
                <a:latin typeface="Calibri"/>
              </a:rPr>
              <a:t>23 moves complete. Full session played.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afterPrev" delay="250">
                      <p:childTnLst>
                        <p:par>
                          <p:cTn id="89" fill="hold">
                            <p:childTnLst>
                              <p:par>
                                <p:cTn id="90" presetID="10" presetClass="entr" presetSubtype="0" fill="hold" grpId="17" nodeType="afterPrev"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afterPrev" delay="250">
                      <p:childTnLst>
                        <p:par>
                          <p:cTn id="94" fill="hold">
                            <p:childTnLst>
                              <p:par>
                                <p:cTn id="95" presetID="10" presetClass="entr" presetSubtype="0" fill="hold" grpId="18" nodeType="afterPrev"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afterPrev" delay="250">
                      <p:childTnLst>
                        <p:par>
                          <p:cTn id="99" fill="hold">
                            <p:childTnLst>
                              <p:par>
                                <p:cTn id="100" presetID="10" presetClass="entr" presetSubtype="0" fill="hold" grpId="19" nodeType="afterPrev"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afterPrev" delay="250">
                      <p:childTnLst>
                        <p:par>
                          <p:cTn id="104" fill="hold">
                            <p:childTnLst>
                              <p:par>
                                <p:cTn id="105" presetID="10" presetClass="entr" presetSubtype="0" fill="hold" grpId="20" nodeType="afterPrev"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afterPrev" delay="250">
                      <p:childTnLst>
                        <p:par>
                          <p:cTn id="109" fill="hold">
                            <p:childTnLst>
                              <p:par>
                                <p:cTn id="110" presetID="10" presetClass="entr" presetSubtype="0" fill="hold" grpId="21" nodeType="afterPrev"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afterPrev" delay="250">
                      <p:childTnLst>
                        <p:par>
                          <p:cTn id="114" fill="hold">
                            <p:childTnLst>
                              <p:par>
                                <p:cTn id="115" presetID="10" presetClass="entr" presetSubtype="0" fill="hold" grpId="22" nodeType="afterPrev"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afterPrev" delay="250">
                      <p:childTnLst>
                        <p:par>
                          <p:cTn id="119" fill="hold">
                            <p:childTnLst>
                              <p:par>
                                <p:cTn id="120" presetID="10" presetClass="entr" presetSubtype="0" fill="hold" grpId="23" nodeType="afterPrev"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afterPrev" delay="250">
                      <p:childTnLst>
                        <p:par>
                          <p:cTn id="124" fill="hold">
                            <p:childTnLst>
                              <p:par>
                                <p:cTn id="125" presetID="10" presetClass="entr" presetSubtype="0" fill="hold" grpId="24" nodeType="afterPrev"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afterPrev" delay="250">
                      <p:childTnLst>
                        <p:par>
                          <p:cTn id="129" fill="hold">
                            <p:childTnLst>
                              <p:par>
                                <p:cTn id="130" presetID="10" presetClass="entr" presetSubtype="0" fill="hold" grpId="25" nodeType="afterPrev"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afterPrev" delay="250">
                      <p:childTnLst>
                        <p:par>
                          <p:cTn id="134" fill="hold">
                            <p:childTnLst>
                              <p:par>
                                <p:cTn id="135" presetID="10" presetClass="entr" presetSubtype="0" fill="hold" grpId="26" nodeType="afterPrev"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afterPrev" delay="250">
                      <p:childTnLst>
                        <p:par>
                          <p:cTn id="139" fill="hold">
                            <p:childTnLst>
                              <p:par>
                                <p:cTn id="140" presetID="10" presetClass="entr" presetSubtype="0" fill="hold" grpId="27" nodeType="afterPrev"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afterPrev" delay="250">
                      <p:childTnLst>
                        <p:par>
                          <p:cTn id="144" fill="hold">
                            <p:childTnLst>
                              <p:par>
                                <p:cTn id="145" presetID="10" presetClass="entr" presetSubtype="0" fill="hold" grpId="28" nodeType="afterPrev"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afterPrev" delay="250">
                      <p:childTnLst>
                        <p:par>
                          <p:cTn id="149" fill="hold">
                            <p:childTnLst>
                              <p:par>
                                <p:cTn id="150" presetID="10" presetClass="entr" presetSubtype="0" fill="hold" grpId="29" nodeType="afterPrev"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afterPrev" delay="250">
                      <p:childTnLst>
                        <p:par>
                          <p:cTn id="154" fill="hold">
                            <p:childTnLst>
                              <p:par>
                                <p:cTn id="155" presetID="10" presetClass="entr" presetSubtype="0" fill="hold" grpId="30" nodeType="afterPrev"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afterPrev" delay="250">
                      <p:childTnLst>
                        <p:par>
                          <p:cTn id="159" fill="hold">
                            <p:childTnLst>
                              <p:par>
                                <p:cTn id="160" presetID="10" presetClass="entr" presetSubtype="0" fill="hold" grpId="31" nodeType="afterPrev"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afterPrev" delay="250">
                      <p:childTnLst>
                        <p:par>
                          <p:cTn id="164" fill="hold">
                            <p:childTnLst>
                              <p:par>
                                <p:cTn id="165" presetID="10" presetClass="entr" presetSubtype="0" fill="hold" grpId="32" nodeType="afterPrev"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  <p:bldP spid="27" grpId="17" build="p"/>
      <p:bldP spid="28" grpId="18" build="p"/>
      <p:bldP spid="29" grpId="19" build="p"/>
      <p:bldP spid="30" grpId="20" build="p"/>
      <p:bldP spid="31" grpId="21" build="p"/>
      <p:bldP spid="32" grpId="22" build="p"/>
      <p:bldP spid="33" grpId="23" build="p"/>
      <p:bldP spid="34" grpId="24" build="p"/>
      <p:bldP spid="35" grpId="25" build="p"/>
      <p:bldP spid="36" grpId="26" build="p"/>
      <p:bldP spid="37" grpId="27" build="p"/>
      <p:bldP spid="38" grpId="28" build="p"/>
      <p:bldP spid="39" grpId="29" build="p"/>
      <p:bldP spid="40" grpId="30" build="p"/>
      <p:bldP spid="41" grpId="31" build="p"/>
      <p:bldP spid="42" grpId="32" build="p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29793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Calibri"/>
              </a:rPr>
              <a:t>Deep Analysis Report — AI Psychologist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0"/>
            <a:ext cx="5486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8B949E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2857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432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4864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051560"/>
            <a:ext cx="164592" cy="164592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9144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678DD"/>
                </a:solidFill>
                <a:latin typeface="Calibri"/>
              </a:rPr>
              <a:t>PSYCHOLOGICAL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32588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B949E"/>
                </a:solidFill>
                <a:latin typeface="Calibri"/>
              </a:rPr>
              <a:t>SOFT/AGGRESSIVE/SILENT pattern · NLI score · attachment style · gap between intent and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65960"/>
            <a:ext cx="164592" cy="164592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0883E"/>
                </a:solidFill>
                <a:latin typeface="Calibri"/>
              </a:rPr>
              <a:t>CRITICAL MOMENTS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24028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B949E"/>
                </a:solidFill>
                <a:latin typeface="Calibri"/>
              </a:rPr>
              <a:t>2-3 pivotal exchanges · what was really communicated · what the other person experienced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80360"/>
            <a:ext cx="164592" cy="164592"/>
          </a:xfrm>
          <a:prstGeom prst="rect">
            <a:avLst/>
          </a:prstGeom>
          <a:solidFill>
            <a:srgbClr val="56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27432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6B6C2"/>
                </a:solidFill>
                <a:latin typeface="Calibri"/>
              </a:rPr>
              <a:t>DSA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5468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B949E"/>
                </a:solidFill>
                <a:latin typeface="Calibri"/>
              </a:rPr>
              <a:t>Which data structure showed maximum activation · what it reveals about stress 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164592" cy="164592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8C379"/>
                </a:solidFill>
                <a:latin typeface="Calibri"/>
              </a:rPr>
              <a:t>FUTURE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B949E"/>
                </a:solidFill>
                <a:latin typeface="Calibri"/>
              </a:rPr>
              <a:t>3 specific actionable steps grounded in the exact pattern observed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709160"/>
            <a:ext cx="164592" cy="164592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75"/>
                </a:solidFill>
                <a:latin typeface="Calibri"/>
              </a:rPr>
              <a:t>CORE FINDING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B949E"/>
                </a:solidFill>
                <a:latin typeface="Calibri"/>
              </a:rPr>
              <a:t>One sentence. The single most important psychological truth this simulation revealed.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914400"/>
            <a:ext cx="5029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995160" y="10515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E6EDF3"/>
                </a:solidFill>
                <a:latin typeface="Consolas"/>
              </a:rPr>
              <a:t>Powered by: Groq (llama-3.1-8b-instant)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E6EDF3"/>
                </a:solidFill>
                <a:latin typeface="Consolas"/>
              </a:rPr>
              <a:t>Fallback:   DeepSeek (deepseek-chat)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E6EDF3"/>
                </a:solidFill>
                <a:latin typeface="Consolas"/>
              </a:rPr>
              <a:t>Context:    Last 10 messages + full stats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E6EDF3"/>
                </a:solidFill>
                <a:latin typeface="Consolas"/>
              </a:rPr>
              <a:t>Output:     ~600-1000 words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E6EDF3"/>
                </a:solidFill>
                <a:latin typeface="Consolas"/>
              </a:rPr>
              <a:t>Skippable:  type SKIP to exit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afterPrev" delay="250">
                      <p:childTnLst>
                        <p:par>
                          <p:cTn id="39" fill="hold">
                            <p:childTnLst>
                              <p:par>
                                <p:cTn id="40" presetID="10" presetClass="entr" presetSubtype="0" fill="hold" grpId="7" nodeType="afterPrev"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afterPrev" delay="250">
                      <p:childTnLst>
                        <p:par>
                          <p:cTn id="44" fill="hold">
                            <p:childTnLst>
                              <p:par>
                                <p:cTn id="45" presetID="10" presetClass="entr" presetSubtype="0" fill="hold" grpId="8" nodeType="afterPrev"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afterPrev" delay="250">
                      <p:childTnLst>
                        <p:par>
                          <p:cTn id="49" fill="hold">
                            <p:childTnLst>
                              <p:par>
                                <p:cTn id="50" presetID="10" presetClass="entr" presetSubtype="0" fill="hold" grpId="9" nodeType="afterPrev"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afterPrev" delay="250">
                      <p:childTnLst>
                        <p:par>
                          <p:cTn id="54" fill="hold">
                            <p:childTnLst>
                              <p:par>
                                <p:cTn id="55" presetID="10" presetClass="entr" presetSubtype="0" fill="hold" grpId="10" nodeType="afterPrev"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afterPrev" delay="250">
                      <p:childTnLst>
                        <p:par>
                          <p:cTn id="59" fill="hold">
                            <p:childTnLst>
                              <p:par>
                                <p:cTn id="60" presetID="10" presetClass="entr" presetSubtype="0" fill="hold" grpId="11" nodeType="afterPrev"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afterPrev" delay="250">
                      <p:childTnLst>
                        <p:par>
                          <p:cTn id="64" fill="hold">
                            <p:childTnLst>
                              <p:par>
                                <p:cTn id="65" presetID="10" presetClass="entr" presetSubtype="0" fill="hold" grpId="12" nodeType="afterPrev"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afterPrev" delay="250"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13" nodeType="afterPrev"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afterPrev" delay="250">
                      <p:childTnLst>
                        <p:par>
                          <p:cTn id="74" fill="hold">
                            <p:childTnLst>
                              <p:par>
                                <p:cTn id="75" presetID="10" presetClass="entr" presetSubtype="0" fill="hold" grpId="14" nodeType="afterPrev"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afterPrev" delay="250">
                      <p:childTnLst>
                        <p:par>
                          <p:cTn id="79" fill="hold">
                            <p:childTnLst>
                              <p:par>
                                <p:cTn id="80" presetID="10" presetClass="entr" presetSubtype="0" fill="hold" grpId="15" nodeType="afterPrev"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afterPrev" delay="250">
                      <p:childTnLst>
                        <p:par>
                          <p:cTn id="84" fill="hold">
                            <p:childTnLst>
                              <p:par>
                                <p:cTn id="85" presetID="10" presetClass="entr" presetSubtype="0" fill="hold" grpId="16" nodeType="afterPrev"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afterPrev" delay="250">
                      <p:childTnLst>
                        <p:par>
                          <p:cTn id="89" fill="hold">
                            <p:childTnLst>
                              <p:par>
                                <p:cTn id="90" presetID="10" presetClass="entr" presetSubtype="0" fill="hold" grpId="17" nodeType="afterPrev"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afterPrev" delay="250">
                      <p:childTnLst>
                        <p:par>
                          <p:cTn id="94" fill="hold">
                            <p:childTnLst>
                              <p:par>
                                <p:cTn id="95" presetID="10" presetClass="entr" presetSubtype="0" fill="hold" grpId="18" nodeType="afterPrev"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afterPrev" delay="250">
                      <p:childTnLst>
                        <p:par>
                          <p:cTn id="99" fill="hold">
                            <p:childTnLst>
                              <p:par>
                                <p:cTn id="100" presetID="10" presetClass="entr" presetSubtype="0" fill="hold" grpId="19" nodeType="afterPrev"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afterPrev" delay="250">
                      <p:childTnLst>
                        <p:par>
                          <p:cTn id="104" fill="hold">
                            <p:childTnLst>
                              <p:par>
                                <p:cTn id="105" presetID="10" presetClass="entr" presetSubtype="0" fill="hold" grpId="20" nodeType="afterPrev"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afterPrev" delay="250">
                      <p:childTnLst>
                        <p:par>
                          <p:cTn id="109" fill="hold">
                            <p:childTnLst>
                              <p:par>
                                <p:cTn id="110" presetID="10" presetClass="entr" presetSubtype="0" fill="hold" grpId="21" nodeType="afterPrev"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14" grpId="4" build="p"/>
      <p:bldP spid="15" grpId="5" build="p"/>
      <p:bldP spid="16" grpId="6" build="p"/>
      <p:bldP spid="17" grpId="7" build="p"/>
      <p:bldP spid="18" grpId="8" build="p"/>
      <p:bldP spid="19" grpId="9" build="p"/>
      <p:bldP spid="20" grpId="10" build="p"/>
      <p:bldP spid="21" grpId="11" build="p"/>
      <p:bldP spid="22" grpId="12" build="p"/>
      <p:bldP spid="23" grpId="13" build="p"/>
      <p:bldP spid="24" grpId="14" build="p"/>
      <p:bldP spid="25" grpId="15" build="p"/>
      <p:bldP spid="26" grpId="16" build="p"/>
      <p:bldP spid="27" grpId="17" build="p"/>
      <p:bldP spid="28" grpId="18" build="p"/>
      <p:bldP spid="29" grpId="19" build="p"/>
      <p:bldP spid="30" grpId="20" build="p"/>
      <p:bldP spid="31" grpId="21" build="p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58A6FF"/>
                </a:solidFill>
                <a:latin typeface="Calibri"/>
              </a:rPr>
              <a:t>LOST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920240"/>
            <a:ext cx="1161288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58A6FF"/>
                </a:solidFill>
                <a:latin typeface="Calibri"/>
              </a:rPr>
              <a:t>DSA IMPLEMENTATION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8C379"/>
                </a:solidFill>
                <a:latin typeface="Calibri"/>
              </a:rPr>
              <a:t>▸ </a:t>
            </a:r>
            <a:r>
              <a:rPr sz="1200">
                <a:solidFill>
                  <a:srgbClr val="98C379"/>
                </a:solidFill>
                <a:latin typeface="Calibri"/>
              </a:rPr>
              <a:t>DAG + Dijkstra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8C379"/>
                </a:solidFill>
                <a:latin typeface="Calibri"/>
              </a:rPr>
              <a:t>▸ </a:t>
            </a:r>
            <a:r>
              <a:rPr sz="1200">
                <a:solidFill>
                  <a:srgbClr val="98C379"/>
                </a:solidFill>
                <a:latin typeface="Calibri"/>
              </a:rPr>
              <a:t>Stack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8C379"/>
                </a:solidFill>
                <a:latin typeface="Calibri"/>
              </a:rPr>
              <a:t>▸ </a:t>
            </a:r>
            <a:r>
              <a:rPr sz="1200">
                <a:solidFill>
                  <a:srgbClr val="98C379"/>
                </a:solidFill>
                <a:latin typeface="Calibri"/>
              </a:rPr>
              <a:t>Priority Queue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8C379"/>
                </a:solidFill>
                <a:latin typeface="Calibri"/>
              </a:rPr>
              <a:t>▸ </a:t>
            </a:r>
            <a:r>
              <a:rPr sz="1200">
                <a:solidFill>
                  <a:srgbClr val="98C379"/>
                </a:solidFill>
                <a:latin typeface="Calibri"/>
              </a:rPr>
              <a:t>Linked List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8C379"/>
                </a:solidFill>
                <a:latin typeface="Calibri"/>
              </a:rPr>
              <a:t>▸ </a:t>
            </a:r>
            <a:r>
              <a:rPr sz="1200">
                <a:solidFill>
                  <a:srgbClr val="98C379"/>
                </a:solidFill>
                <a:latin typeface="Calibri"/>
              </a:rPr>
              <a:t>Hash Map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8C379"/>
                </a:solidFill>
                <a:latin typeface="Calibri"/>
              </a:rPr>
              <a:t>▸ </a:t>
            </a:r>
            <a:r>
              <a:rPr sz="1200">
                <a:solidFill>
                  <a:srgbClr val="98C379"/>
                </a:solidFill>
                <a:latin typeface="Calibri"/>
              </a:rPr>
              <a:t>FSM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8C379"/>
                </a:solidFill>
                <a:latin typeface="Calibri"/>
              </a:rPr>
              <a:t>▸ </a:t>
            </a:r>
            <a:r>
              <a:rPr sz="1200">
                <a:solidFill>
                  <a:srgbClr val="98C379"/>
                </a:solidFill>
                <a:latin typeface="Calibri"/>
              </a:rPr>
              <a:t>Minimax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C678DD"/>
                </a:solidFill>
                <a:latin typeface="Calibri"/>
              </a:rPr>
              <a:t>PSYCHOLOGY MAPPED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678DD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Memory decay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678DD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Cortisol buffer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678DD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PFC corruption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678DD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Longing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678DD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Identity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678DD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Phase shifts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678DD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Consequence anticipation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1945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F0883E"/>
                </a:solidFill>
                <a:latin typeface="Calibri"/>
              </a:rPr>
              <a:t>NEW IN THIS VERSION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883E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Roman Urdu language intelligence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883E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4-phase escalation arc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883E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Farewell detection (25+ triggers)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883E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Stalemate terminal condition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883E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Dynamic prompt rebuild each move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0883E"/>
                </a:solidFill>
                <a:latin typeface="Calibri"/>
              </a:rPr>
              <a:t>▸ </a:t>
            </a:r>
            <a:r>
              <a:rPr sz="1200">
                <a:solidFill>
                  <a:srgbClr val="E6EDF3"/>
                </a:solidFill>
                <a:latin typeface="Calibri"/>
              </a:rPr>
              <a:t>Crash-safe AI report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0883E"/>
                </a:solidFill>
                <a:latin typeface="Calibri"/>
              </a:rPr>
              <a:t>“Every word we speak in a relationship is a card we play.
We play without knowing we are in a game.
This simulation makes that visible. For the first time — computationally.”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alibri"/>
              </a:rPr>
              <a:t>S. M. Minhal Abbas Rizvi  ·  Supervisor: Waqas Aziz  ·  Data Structures &amp; Algorithms  ·  BSSE  ·  June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64808"/>
            <a:ext cx="12191695" cy="3931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64808"/>
            <a:ext cx="12191695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28816"/>
            <a:ext cx="640080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S. M. Minhal Abbas Rizvi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9695" y="6528816"/>
            <a:ext cx="4297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8A6FF"/>
                </a:solidFill>
                <a:latin typeface="Calibri"/>
              </a:rPr>
              <a:t>LOST CARD  ·  DSA 2026</a:t>
            </a:r>
          </a:p>
        </p:txBody>
      </p:sp>
    </p:spTree>
  </p:cSld>
  <p:clrMapOvr>
    <a:masterClrMapping/>
  </p:clrMapOvr>
  <p:timing>
    <p:tnLst>
      <p:par>
        <p:cTn id="1" dur="indefinite" restart="whenNotActive">
          <p:childTnLst>
            <p:seq concurrent="1" nextAc="seek">
              <p:cTn id="2" dur="indefinite" nodeType="mainSeq">
                <p:childTnLst>
                  <p:par>
                    <p:cTn id="3" fill="hold" nodeType="afterPrev" delay="300">
                      <p:childTnLst>
                        <p:par>
                          <p:cTn id="4" fill="hold">
                            <p:childTnLst>
                              <p:par>
                                <p:cTn id="5" presetID="10" presetClass="entr" presetSubtype="0" fill="hold" grpId="0" nodeType="afterPrev"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afterPrev" delay="250">
                      <p:childTnLst>
                        <p:par>
                          <p:cTn id="9" fill="hold">
                            <p:childTnLst>
                              <p:par>
                                <p:cTn id="10" presetID="10" presetClass="entr" presetSubtype="0" fill="hold" grpId="1" nodeType="afterPrev"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afterPrev" delay="250">
                      <p:childTnLst>
                        <p:par>
                          <p:cTn id="14" fill="hold">
                            <p:childTnLst>
                              <p:par>
                                <p:cTn id="15" presetID="10" presetClass="entr" presetSubtype="0" fill="hold" grpId="2" nodeType="afterPrev"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afterPrev" delay="250"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3" nodeType="afterPrev"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afterPrev" delay="250">
                      <p:childTnLst>
                        <p:par>
                          <p:cTn id="24" fill="hold">
                            <p:childTnLst>
                              <p:par>
                                <p:cTn id="25" presetID="10" presetClass="entr" presetSubtype="0" fill="hold" grpId="4" nodeType="afterPrev"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afterPrev" delay="250">
                      <p:childTnLst>
                        <p:par>
                          <p:cTn id="29" fill="hold">
                            <p:childTnLst>
                              <p:par>
                                <p:cTn id="30" presetID="10" presetClass="entr" presetSubtype="0" fill="hold" grpId="5" nodeType="afterPrev"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afterPrev" delay="250">
                      <p:childTnLst>
                        <p:par>
                          <p:cTn id="34" fill="hold">
                            <p:childTnLst>
                              <p:par>
                                <p:cTn id="35" presetID="10" presetClass="entr" presetSubtype="0" fill="hold" grpId="6" nodeType="afterPrev"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indefinite">
                  <p:tn/>
                </p:cond>
              </p:prevCondLst>
              <p:nextCondLst>
                <p:cond evt="endSync" delay="0">
                  <p:rtn/>
                </p:cond>
              </p:nextCondLst>
            </p:seq>
          </p:childTnLst>
        </p:cTn>
      </p:par>
    </p:tnLst>
    <p:bldLst>
      <p:bldP spid="2" grpId="0" build="p"/>
      <p:bldP spid="3" grpId="1" build="p"/>
      <p:bldP spid="4" grpId="2" build="p"/>
      <p:bldP spid="5" grpId="3" build="p"/>
      <p:bldP spid="6" grpId="4" build="p"/>
      <p:bldP spid="7" grpId="5" build="p"/>
      <p:bldP spid="8" grpId="6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